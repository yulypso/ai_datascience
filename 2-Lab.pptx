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78" r:id="rId4"/>
    <p:sldId id="279" r:id="rId5"/>
    <p:sldId id="280" r:id="rId6"/>
    <p:sldId id="293" r:id="rId7"/>
    <p:sldId id="294" r:id="rId8"/>
    <p:sldId id="295" r:id="rId9"/>
    <p:sldId id="296" r:id="rId10"/>
    <p:sldId id="298" r:id="rId11"/>
    <p:sldId id="299" r:id="rId12"/>
    <p:sldId id="300" r:id="rId13"/>
    <p:sldId id="301" r:id="rId14"/>
    <p:sldId id="297" r:id="rId15"/>
    <p:sldId id="302" r:id="rId16"/>
    <p:sldId id="303" r:id="rId17"/>
    <p:sldId id="304" r:id="rId18"/>
    <p:sldId id="305" r:id="rId19"/>
    <p:sldId id="306" r:id="rId20"/>
    <p:sldId id="307" r:id="rId21"/>
    <p:sldId id="309" r:id="rId22"/>
    <p:sldId id="30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ADAAD-4B0B-4DEB-B506-FC14B4E18403}" v="1" dt="2020-04-10T11:33:58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erry KHAMPHOUSONE" userId="4d70e93f-441c-482c-989f-a09371555021" providerId="ADAL" clId="{70FADAAD-4B0B-4DEB-B506-FC14B4E18403}"/>
    <pc:docChg chg="modSld sldOrd">
      <pc:chgData name="Thierry KHAMPHOUSONE" userId="4d70e93f-441c-482c-989f-a09371555021" providerId="ADAL" clId="{70FADAAD-4B0B-4DEB-B506-FC14B4E18403}" dt="2020-04-10T11:33:58.306" v="0"/>
      <pc:docMkLst>
        <pc:docMk/>
      </pc:docMkLst>
      <pc:sldChg chg="ord">
        <pc:chgData name="Thierry KHAMPHOUSONE" userId="4d70e93f-441c-482c-989f-a09371555021" providerId="ADAL" clId="{70FADAAD-4B0B-4DEB-B506-FC14B4E18403}" dt="2020-04-10T11:33:58.306" v="0"/>
        <pc:sldMkLst>
          <pc:docMk/>
          <pc:sldMk cId="2735867896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CC89B-2E47-45A2-96D0-BBDB60F31722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A334-0C30-4416-92F4-8BE446AC3A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74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A2E05-E940-4A5A-95E3-F53B6C6A5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BCDCB2-8868-4DDB-9D1D-458BECB17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8BB765-FB71-40BB-9D11-4479C0B8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733460-6901-4840-B2D2-D0B59F61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59DA7-C79D-4217-9DDE-8EBCD9F9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02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644960-2AB8-41F2-B94E-97F54244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559703-A27C-4047-AD92-65F2D651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22969A-524A-4278-8B08-7B177B59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15BB1-59E6-4E7F-8F9B-FE64B5E8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AC940C-0B53-4580-90EC-907FEB6A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95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65455-8A4F-4AFD-A939-12FA7FAF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6C28C0-0A32-49C3-8C5A-3F7FB2A4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F6010D-7B3B-4F15-A5C3-C9A4BA91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DB8F7C-0DEE-4A39-A249-BC75C297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4CC3FE-4C2A-4522-AC3B-B506C744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18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48218-7B2C-4C5F-A4BE-9EB09ACC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8EDF41-CA90-4D98-9032-430C5DE4D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B00BA1-27C7-4A1B-BAA2-099813B78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D42DCB-F5B8-4CD5-8584-E4552201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FFE670-B02B-45ED-8792-2ECF8BE8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1DC036-B546-4FD7-8330-564E9361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20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6E815-9562-49FB-8A2A-7B6A8F4B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E167F6-A9B5-405E-9BE0-C00FE2384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5C3F68-6E19-4E3F-98A2-57B33805B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490B74-A903-497A-B9D0-D9B3F8769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56ADBE8-8D8A-4310-9888-4C44476D5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2753D50-1071-442F-9AA9-2ECF3171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B853D1-1A8B-46EF-AB6E-294B4D77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75179BE-08DB-4984-BF02-9EE26F10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01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DD589-80D1-4D5F-B631-6780B176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8F6CC2D-FA53-464B-BF82-41FC722C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D796C4-A28D-4022-878E-C6442BA0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8F749D-7918-40DF-9B4A-B4E7BD20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91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68DC7D4-5D86-498F-8A77-73EB1A58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FC8F38-5C9C-43F9-950E-9869683F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69A2CA-2FE7-4923-BDF0-8F4A7F1A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53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58A67-6A06-4F3E-B924-E54BB39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5DC021-2A4E-4D3D-A930-B0FF76C69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FFA56E-973C-4EA7-9AC3-CB63E0956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95D5E2-4C2A-411E-B91B-FC8C2EF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E4B348-6FC5-4395-874F-96008D45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0B9603-6016-4538-8385-A035368E6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71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76189-EA7D-477F-9902-954F7D6E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0440FC-8FDE-415E-8235-21732F5BF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5BCBDC-222C-45A9-8E71-C68AEBF8C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1DD3B2-C959-4BE4-BE77-A19E90EE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8A84AF-FF0F-4CD1-96B5-2CC91BA1C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36BD89-7161-4F27-B37B-5889A6C6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6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1757F-60DA-4BE6-ACF9-0A348BC3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2751FA-1822-495B-9693-6CC95E1F8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9A0D83-0D6F-4B66-9D97-7773E1B7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E6954D-E7DC-4211-B249-3EA804A7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B2A1AE-D21A-4EA3-B228-325A9DFD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37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6437405-0AEA-4449-A8E0-DF5D92BE2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4A31A4-2965-45F4-A0F5-D6FDACEAF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713FAF-183C-447F-A435-C096BEBA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F8F16F-48C8-4A41-ACDB-9AF1B4AC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C36F6-493A-4A57-A72E-1E358788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863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6A961ADE-7FFD-4F05-82F2-EFAD0F844AF3}"/>
              </a:ext>
            </a:extLst>
          </p:cNvPr>
          <p:cNvSpPr txBox="1">
            <a:spLocks/>
          </p:cNvSpPr>
          <p:nvPr userDrawn="1"/>
        </p:nvSpPr>
        <p:spPr>
          <a:xfrm>
            <a:off x="2288386" y="909715"/>
            <a:ext cx="8846226" cy="7686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300" b="1" i="0" u="none" strike="noStrike" kern="1200" cap="none" spc="0" normalizeH="0" baseline="0" noProof="0">
              <a:ln>
                <a:noFill/>
              </a:ln>
              <a:solidFill>
                <a:srgbClr val="00AAFF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E575D3A-5D56-4B39-98FA-AB3A017E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388" y="582729"/>
            <a:ext cx="9998638" cy="9704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  <a:effectLst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58738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82ACF0-538D-4461-A15D-F38D36DB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D9FD62-3851-4D16-8B80-3A31B1BF8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72A0E1-1713-4394-95AD-040248972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BC2CB-56DC-480B-AF75-375674063C1D}" type="datetimeFigureOut">
              <a:rPr lang="fr-FR" smtClean="0"/>
              <a:t>10/04/2020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228D39-4D68-4E04-908C-95F60FAC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412626-5DDC-4689-BC4F-FD8A5C28A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5E27-180E-4910-B539-D74D01281E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39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149D8-94FE-43FC-9377-17C2111C3B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Laboratoire</a:t>
            </a:r>
            <a:br>
              <a:rPr lang="fr-FR" dirty="0"/>
            </a:br>
            <a:r>
              <a:rPr lang="fr-FR" dirty="0"/>
              <a:t>d’Intelligence Artificielle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CAC456-A215-419C-A14D-324D334D4E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ESIEA 3A 2019-2020</a:t>
            </a:r>
          </a:p>
          <a:p>
            <a:endParaRPr lang="fr-FR" dirty="0"/>
          </a:p>
          <a:p>
            <a:r>
              <a:rPr lang="fr-FR" dirty="0"/>
              <a:t>Mihir Sarkar</a:t>
            </a:r>
          </a:p>
          <a:p>
            <a:r>
              <a:rPr lang="fr-FR" dirty="0"/>
              <a:t>mihir@media.mit.edu</a:t>
            </a:r>
          </a:p>
        </p:txBody>
      </p:sp>
    </p:spTree>
    <p:extLst>
      <p:ext uri="{BB962C8B-B14F-4D97-AF65-F5344CB8AC3E}">
        <p14:creationId xmlns:p14="http://schemas.microsoft.com/office/powerpoint/2010/main" val="8152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41586B-426E-4E4E-9709-EA51E807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du cours
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CE8F31-C810-4E18-9135-6E1908A2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Module d’introduction général expliquant l’histoire de l’IA, les principaux concepts, ses applications et ses défis</a:t>
            </a:r>
          </a:p>
        </p:txBody>
      </p:sp>
    </p:spTree>
    <p:extLst>
      <p:ext uri="{BB962C8B-B14F-4D97-AF65-F5344CB8AC3E}">
        <p14:creationId xmlns:p14="http://schemas.microsoft.com/office/powerpoint/2010/main" val="285750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D09B8-ABBE-4F17-ABAB-50CA73915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to AI &amp; Data Science:</a:t>
            </a:r>
            <a:br>
              <a:rPr lang="fr-FR" dirty="0"/>
            </a:br>
            <a:r>
              <a:rPr lang="fr-FR" dirty="0"/>
              <a:t>Applications &amp; Techniques</a:t>
            </a:r>
          </a:p>
        </p:txBody>
      </p:sp>
    </p:spTree>
    <p:extLst>
      <p:ext uri="{BB962C8B-B14F-4D97-AF65-F5344CB8AC3E}">
        <p14:creationId xmlns:p14="http://schemas.microsoft.com/office/powerpoint/2010/main" val="377736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B17156-58C9-4876-9962-BC186C6A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Install Anaconda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7BEB1D-2BB2-4AE3-8DA5-ED691A863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42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B17156-58C9-4876-9962-BC186C6A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Download input.zip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7BEB1D-2BB2-4AE3-8DA5-ED691A863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data_description.txt</a:t>
            </a:r>
          </a:p>
          <a:p>
            <a:r>
              <a:rPr lang="fr-FR" dirty="0"/>
              <a:t>sample_submission.csv</a:t>
            </a:r>
          </a:p>
          <a:p>
            <a:r>
              <a:rPr lang="fr-FR" dirty="0"/>
              <a:t>test.csv</a:t>
            </a:r>
          </a:p>
          <a:p>
            <a:r>
              <a:rPr lang="fr-FR" dirty="0"/>
              <a:t>train.csv</a:t>
            </a:r>
          </a:p>
        </p:txBody>
      </p:sp>
    </p:spTree>
    <p:extLst>
      <p:ext uri="{BB962C8B-B14F-4D97-AF65-F5344CB8AC3E}">
        <p14:creationId xmlns:p14="http://schemas.microsoft.com/office/powerpoint/2010/main" val="273586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A165ED-3577-4D11-B97C-02316825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improve your business using data science 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EA92D8-BE96-42E3-86E0-49306FD9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want to improve your home sales business by providing an easy to use house price estimation to your clients ? Here you will see how to do it using machine learning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notebook is an introduction to python programming and data science. It contains three parts: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Explore your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your first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Improve it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53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44C7ED-DFEB-4ED1-AAA6-8067568F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packages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1B121-8602-42DB-88B7-65E397581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Programming features are available </a:t>
            </a:r>
            <a:r>
              <a:rPr lang="en-US" dirty="0" err="1"/>
              <a:t>throught</a:t>
            </a:r>
            <a:r>
              <a:rPr lang="en-US" dirty="0"/>
              <a:t> </a:t>
            </a:r>
            <a:r>
              <a:rPr lang="en-US" b="1" dirty="0"/>
              <a:t>packages</a:t>
            </a:r>
            <a:r>
              <a:rPr lang="en-US" dirty="0"/>
              <a:t> which have to be </a:t>
            </a:r>
            <a:r>
              <a:rPr lang="en-US" b="1" dirty="0"/>
              <a:t>imported</a:t>
            </a:r>
            <a:r>
              <a:rPr lang="en-US" dirty="0"/>
              <a:t> to be used in program. In this notebook you will use the most popular python packages for </a:t>
            </a:r>
            <a:r>
              <a:rPr lang="en-US" b="1" dirty="0"/>
              <a:t>data manipulation</a:t>
            </a:r>
            <a:r>
              <a:rPr lang="en-US" dirty="0"/>
              <a:t>, </a:t>
            </a:r>
            <a:r>
              <a:rPr lang="en-US" b="1" dirty="0"/>
              <a:t>data visualization</a:t>
            </a:r>
            <a:r>
              <a:rPr lang="en-US" dirty="0"/>
              <a:t> and </a:t>
            </a:r>
            <a:r>
              <a:rPr lang="en-US" b="1" dirty="0"/>
              <a:t>machine learning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 data manipulation</a:t>
            </a:r>
          </a:p>
          <a:p>
            <a:pPr marL="0" indent="0">
              <a:buNone/>
            </a:pP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</a:t>
            </a:r>
          </a:p>
          <a:p>
            <a:pPr marL="0" indent="0">
              <a:buNone/>
            </a:pPr>
            <a:endParaRPr lang="fr-F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 data </a:t>
            </a:r>
            <a:r>
              <a:rPr lang="fr-F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visualization</a:t>
            </a:r>
            <a:endParaRPr lang="fr-F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fr-F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</a:t>
            </a:r>
            <a:endParaRPr lang="fr-F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637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541BC-30FE-4FEC-B2C4-3C795FBF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40E28-CC32-4049-9713-D53AF107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configuration,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don't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attention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figure.figsize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"]=20, 10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warnings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warnings.filterwarnings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('ignore')</a:t>
            </a:r>
          </a:p>
        </p:txBody>
      </p:sp>
    </p:spTree>
    <p:extLst>
      <p:ext uri="{BB962C8B-B14F-4D97-AF65-F5344CB8AC3E}">
        <p14:creationId xmlns:p14="http://schemas.microsoft.com/office/powerpoint/2010/main" val="223872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6A0AE-AFD2-4262-93AF-80DF9487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</a:t>
            </a:r>
            <a:r>
              <a:rPr lang="fr-FR" b="1" dirty="0" err="1"/>
              <a:t>your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B0C03-670B-430E-9BB7-55F1F252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('input/train.csv')</a:t>
            </a:r>
          </a:p>
        </p:txBody>
      </p:sp>
    </p:spTree>
    <p:extLst>
      <p:ext uri="{BB962C8B-B14F-4D97-AF65-F5344CB8AC3E}">
        <p14:creationId xmlns:p14="http://schemas.microsoft.com/office/powerpoint/2010/main" val="204278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6A0AE-AFD2-4262-93AF-80DF9487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</a:t>
            </a:r>
            <a:r>
              <a:rPr lang="fr-FR" b="1" dirty="0" err="1"/>
              <a:t>your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B0C03-670B-430E-9BB7-55F1F252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('input/train.csv’)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data.head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0641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6A0AE-AFD2-4262-93AF-80DF9487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</a:t>
            </a:r>
            <a:r>
              <a:rPr lang="fr-FR" b="1" dirty="0" err="1"/>
              <a:t>your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B0C03-670B-430E-9BB7-55F1F252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('input/train.csv’)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data.head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target.describe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34299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6A0AE-AFD2-4262-93AF-80DF9487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</a:t>
            </a:r>
            <a:r>
              <a:rPr lang="fr-FR" b="1" dirty="0" err="1"/>
              <a:t>your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B0C03-670B-430E-9BB7-55F1F252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('input/train.csv’)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data.head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target.describe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seaborn.distplot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41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C6A0AE-AFD2-4262-93AF-80DF9487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Import </a:t>
            </a:r>
            <a:r>
              <a:rPr lang="fr-FR" b="1" dirty="0" err="1"/>
              <a:t>your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4B0C03-670B-430E-9BB7-55F1F252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pandas.read_csv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('input/train.csv’)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data.head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target.describe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seaborn.distplot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scatter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plot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data.plot.scatter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ylim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=(0, 800000))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956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Bivariate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br>
              <a:rPr lang="fr-FR" b="1" dirty="0"/>
            </a:br>
            <a:r>
              <a:rPr lang="en-US" sz="3600" b="1" dirty="0"/>
              <a:t>The art of data visualization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699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Bivariate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br>
              <a:rPr lang="fr-FR" b="1" dirty="0"/>
            </a:br>
            <a:r>
              <a:rPr lang="en-US" sz="3600" b="1" dirty="0"/>
              <a:t>The art of data visualization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</p:txBody>
      </p:sp>
    </p:spTree>
    <p:extLst>
      <p:ext uri="{BB962C8B-B14F-4D97-AF65-F5344CB8AC3E}">
        <p14:creationId xmlns:p14="http://schemas.microsoft.com/office/powerpoint/2010/main" val="1346084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Bivariate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br>
              <a:rPr lang="fr-FR" b="1" dirty="0"/>
            </a:br>
            <a:r>
              <a:rPr lang="en-US" sz="3600" b="1" dirty="0"/>
              <a:t>The art of data visualization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pandas.qcut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</p:txBody>
      </p:sp>
    </p:spTree>
    <p:extLst>
      <p:ext uri="{BB962C8B-B14F-4D97-AF65-F5344CB8AC3E}">
        <p14:creationId xmlns:p14="http://schemas.microsoft.com/office/powerpoint/2010/main" val="14093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Bivariate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br>
              <a:rPr lang="fr-FR" b="1" dirty="0"/>
            </a:br>
            <a:r>
              <a:rPr lang="en-US" sz="3600" b="1" dirty="0"/>
              <a:t>The art of data visualization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pandas.qcut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seaborn.distplot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</p:txBody>
      </p:sp>
    </p:spTree>
    <p:extLst>
      <p:ext uri="{BB962C8B-B14F-4D97-AF65-F5344CB8AC3E}">
        <p14:creationId xmlns:p14="http://schemas.microsoft.com/office/powerpoint/2010/main" val="3695327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Bivariate</a:t>
            </a:r>
            <a:r>
              <a:rPr lang="fr-FR" b="1" dirty="0"/>
              <a:t> </a:t>
            </a:r>
            <a:r>
              <a:rPr lang="fr-FR" b="1" dirty="0" err="1"/>
              <a:t>analysis</a:t>
            </a:r>
            <a:br>
              <a:rPr lang="fr-FR" b="1" dirty="0"/>
            </a:br>
            <a:r>
              <a:rPr lang="en-US" sz="3600" b="1" dirty="0"/>
              <a:t>The art of data visualization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pandas.qcut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'], 10)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seaborn.boxplot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(x='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year_grouped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y="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data=data)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seaborn.distplot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’])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cols = 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OverallQual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GarageCars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TotalBsmtSF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FullBath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seaborn.pairplot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(data[cols], size = 2.5,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plot_kws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=dict(s=20))</a:t>
            </a:r>
          </a:p>
        </p:txBody>
      </p:sp>
    </p:spTree>
    <p:extLst>
      <p:ext uri="{BB962C8B-B14F-4D97-AF65-F5344CB8AC3E}">
        <p14:creationId xmlns:p14="http://schemas.microsoft.com/office/powerpoint/2010/main" val="799459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Building </a:t>
            </a:r>
            <a:r>
              <a:rPr lang="fr-FR" b="1" dirty="0" err="1"/>
              <a:t>your</a:t>
            </a:r>
            <a:r>
              <a:rPr lang="fr-FR" b="1" dirty="0"/>
              <a:t> first model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from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sklearn.linear_model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['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OverallQual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GarageCars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TotalBsmtSF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FullBath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SalePrice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features_data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data[features]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data[target]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my_first_model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LinearRegression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my_first_model.fit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features_data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43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4E774-2FA0-4C79-8081-66880AD9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Building </a:t>
            </a:r>
            <a:r>
              <a:rPr lang="fr-FR" b="1" dirty="0" err="1"/>
              <a:t>your</a:t>
            </a:r>
            <a:r>
              <a:rPr lang="fr-FR" b="1" dirty="0"/>
              <a:t> first model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Congratulations ! You just trained your first machine learning model !</a:t>
            </a:r>
          </a:p>
          <a:p>
            <a:pPr marL="0" indent="0"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Let's use it !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3200" b="1" dirty="0">
                <a:latin typeface="+mj-lt"/>
                <a:cs typeface="Courier New" panose="02070309020205020404" pitchFamily="49" charset="0"/>
              </a:rPr>
              <a:t>You now have a perfectly valid house price estimation service, let's try it !¶</a:t>
            </a:r>
            <a:endParaRPr lang="fr-FR" sz="3200" b="1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45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collections import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OrderedDict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Fill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house data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my_house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OrderedDict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OverallQual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7,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150,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GarageCars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2,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TotalBsmtSF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200,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FullBath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1880})])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compute your price estimation using your first mode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my_price_estimation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my_first_model.predict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my_house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f'The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price estimation of your house is: 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my_price_estimation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[0] :.2f} $’)</a:t>
            </a:r>
          </a:p>
        </p:txBody>
      </p:sp>
    </p:spTree>
    <p:extLst>
      <p:ext uri="{BB962C8B-B14F-4D97-AF65-F5344CB8AC3E}">
        <p14:creationId xmlns:p14="http://schemas.microsoft.com/office/powerpoint/2010/main" val="2536355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4A687-9843-43B4-A698-80D138849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collections import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OrderedDict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Fill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house data</a:t>
            </a:r>
          </a:p>
          <a:p>
            <a:pPr marL="0" indent="0">
              <a:buNone/>
            </a:pP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my_house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OrderedDict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OverallQual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7,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GrLivArea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150,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GarageCars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2,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TotalBsmtSF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200,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FullBath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1, </a:t>
            </a:r>
          </a:p>
          <a:p>
            <a:pPr marL="0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'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YearBuilt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': 1880})])</a:t>
            </a:r>
          </a:p>
          <a:p>
            <a:pPr marL="0" indent="0">
              <a:buNone/>
            </a:pP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compute your price estimation using your first mode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my_price_estimation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my_first_model.predict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my_house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f'The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price estimation of your house is: 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my_price_estimation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[0] :.2f} $’)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feature,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zip(features,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my_first_model.coef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print(f'{feature}: 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.2f}')</a:t>
            </a:r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0017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Office PowerPoint</Application>
  <PresentationFormat>Grand écran</PresentationFormat>
  <Paragraphs>150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Thème Office</vt:lpstr>
      <vt:lpstr>Laboratoire d’Intelligence Artificielle</vt:lpstr>
      <vt:lpstr>Objectifs du cours
</vt:lpstr>
      <vt:lpstr>Introduction to AI &amp; Data Science: Applications &amp; Techniques</vt:lpstr>
      <vt:lpstr>Install Anaconda</vt:lpstr>
      <vt:lpstr>Download input.zip</vt:lpstr>
      <vt:lpstr>How to improve your business using data science ?</vt:lpstr>
      <vt:lpstr>Import packages</vt:lpstr>
      <vt:lpstr>Présentation PowerPoint</vt:lpstr>
      <vt:lpstr>Import your data</vt:lpstr>
      <vt:lpstr>Import your data</vt:lpstr>
      <vt:lpstr>Import your data</vt:lpstr>
      <vt:lpstr>Import your data</vt:lpstr>
      <vt:lpstr>Import your data</vt:lpstr>
      <vt:lpstr>Bivariate analysis The art of data visualization</vt:lpstr>
      <vt:lpstr>Bivariate analysis The art of data visualization</vt:lpstr>
      <vt:lpstr>Bivariate analysis The art of data visualization</vt:lpstr>
      <vt:lpstr>Bivariate analysis The art of data visualization</vt:lpstr>
      <vt:lpstr>Bivariate analysis The art of data visualization</vt:lpstr>
      <vt:lpstr>Building your first model</vt:lpstr>
      <vt:lpstr>Building your first model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l’Intelligence Artificielle</dc:title>
  <dc:creator>SARKAR Mihir (ENGIE Digital)</dc:creator>
  <cp:lastModifiedBy>Thierry KHAMPHOUSONE</cp:lastModifiedBy>
  <cp:revision>12</cp:revision>
  <dcterms:created xsi:type="dcterms:W3CDTF">2020-03-27T00:08:07Z</dcterms:created>
  <dcterms:modified xsi:type="dcterms:W3CDTF">2020-04-10T11:34:07Z</dcterms:modified>
</cp:coreProperties>
</file>